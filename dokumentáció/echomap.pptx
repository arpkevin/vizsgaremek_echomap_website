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Roboto"/>
      <p:regular r:id="rId30"/>
      <p:bold r:id="rId31"/>
      <p:italic r:id="rId32"/>
      <p:boldItalic r:id="rId33"/>
    </p:embeddedFont>
    <p:embeddedFont>
      <p:font typeface="Montserrat"/>
      <p:regular r:id="rId34"/>
      <p:bold r:id="rId35"/>
      <p:italic r:id="rId36"/>
      <p:boldItalic r:id="rId37"/>
    </p:embeddedFont>
    <p:embeddedFont>
      <p:font typeface="Lato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italic.fntdata"/><Relationship Id="rId20" Type="http://schemas.openxmlformats.org/officeDocument/2006/relationships/slide" Target="slides/slide15.xml"/><Relationship Id="rId41" Type="http://schemas.openxmlformats.org/officeDocument/2006/relationships/font" Target="fonts/Lato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11" Type="http://schemas.openxmlformats.org/officeDocument/2006/relationships/slide" Target="slides/slide6.xml"/><Relationship Id="rId33" Type="http://schemas.openxmlformats.org/officeDocument/2006/relationships/font" Target="fonts/Roboto-boldItalic.fntdata"/><Relationship Id="rId10" Type="http://schemas.openxmlformats.org/officeDocument/2006/relationships/slide" Target="slides/slide5.xml"/><Relationship Id="rId32" Type="http://schemas.openxmlformats.org/officeDocument/2006/relationships/font" Target="fonts/Roboto-italic.fntdata"/><Relationship Id="rId13" Type="http://schemas.openxmlformats.org/officeDocument/2006/relationships/slide" Target="slides/slide8.xml"/><Relationship Id="rId35" Type="http://schemas.openxmlformats.org/officeDocument/2006/relationships/font" Target="fonts/Montserrat-bold.fntdata"/><Relationship Id="rId12" Type="http://schemas.openxmlformats.org/officeDocument/2006/relationships/slide" Target="slides/slide7.xml"/><Relationship Id="rId34" Type="http://schemas.openxmlformats.org/officeDocument/2006/relationships/font" Target="fonts/Montserrat-regular.fntdata"/><Relationship Id="rId15" Type="http://schemas.openxmlformats.org/officeDocument/2006/relationships/slide" Target="slides/slide10.xml"/><Relationship Id="rId37" Type="http://schemas.openxmlformats.org/officeDocument/2006/relationships/font" Target="fonts/Montserrat-boldItalic.fntdata"/><Relationship Id="rId14" Type="http://schemas.openxmlformats.org/officeDocument/2006/relationships/slide" Target="slides/slide9.xml"/><Relationship Id="rId36" Type="http://schemas.openxmlformats.org/officeDocument/2006/relationships/font" Target="fonts/Montserrat-italic.fntdata"/><Relationship Id="rId17" Type="http://schemas.openxmlformats.org/officeDocument/2006/relationships/slide" Target="slides/slide12.xml"/><Relationship Id="rId39" Type="http://schemas.openxmlformats.org/officeDocument/2006/relationships/font" Target="fonts/Lato-bold.fntdata"/><Relationship Id="rId16" Type="http://schemas.openxmlformats.org/officeDocument/2006/relationships/slide" Target="slides/slide11.xml"/><Relationship Id="rId38" Type="http://schemas.openxmlformats.org/officeDocument/2006/relationships/font" Target="fonts/Lato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04e8100b70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04e8100b7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04e8100b70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04e8100b70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04e8100b70_4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04e8100b70_4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04e8100b70_4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04e8100b70_4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04e8100b70_4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04e8100b70_4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04e8100b70_4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04e8100b70_4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04e8100b70_4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04e8100b70_4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04e8100b70_4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04e8100b70_4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04e8100b70_4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04e8100b70_4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04e8100b70_4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04e8100b70_4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04e8100b70_4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04e8100b70_4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04e8100b70_4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04e8100b70_4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04e8100b70_4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04e8100b70_4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4e8100b70_4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4e8100b70_4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04e8100b70_4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04e8100b70_4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04e8100b70_4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04e8100b70_4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04e8100b70_4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04e8100b70_4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04e8100b70_3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04e8100b70_3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04e8100b70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04e8100b70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04e8100b70_3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04e8100b70_3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04e8100b70_3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04e8100b70_3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04e8100b70_3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04e8100b70_3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04e8100b70_3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04e8100b70_3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9.png"/><Relationship Id="rId4" Type="http://schemas.openxmlformats.org/officeDocument/2006/relationships/image" Target="../media/image27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5.png"/><Relationship Id="rId4" Type="http://schemas.openxmlformats.org/officeDocument/2006/relationships/image" Target="../media/image14.png"/><Relationship Id="rId5" Type="http://schemas.openxmlformats.org/officeDocument/2006/relationships/image" Target="../media/image3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Relationship Id="rId4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8.png"/><Relationship Id="rId4" Type="http://schemas.openxmlformats.org/officeDocument/2006/relationships/image" Target="../media/image5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4.png"/><Relationship Id="rId4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Relationship Id="rId4" Type="http://schemas.openxmlformats.org/officeDocument/2006/relationships/image" Target="../media/image51.png"/><Relationship Id="rId5" Type="http://schemas.openxmlformats.org/officeDocument/2006/relationships/image" Target="../media/image18.png"/><Relationship Id="rId6" Type="http://schemas.openxmlformats.org/officeDocument/2006/relationships/image" Target="../media/image3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0.png"/><Relationship Id="rId4" Type="http://schemas.openxmlformats.org/officeDocument/2006/relationships/image" Target="../media/image3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5.png"/><Relationship Id="rId4" Type="http://schemas.openxmlformats.org/officeDocument/2006/relationships/image" Target="../media/image2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7.png"/><Relationship Id="rId4" Type="http://schemas.openxmlformats.org/officeDocument/2006/relationships/image" Target="../media/image3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6.png"/><Relationship Id="rId4" Type="http://schemas.openxmlformats.org/officeDocument/2006/relationships/image" Target="../media/image4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Relationship Id="rId6" Type="http://schemas.openxmlformats.org/officeDocument/2006/relationships/image" Target="../media/image4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6.png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5573400" y="3208025"/>
            <a:ext cx="2491800" cy="68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latin typeface="Roboto"/>
                <a:ea typeface="Roboto"/>
                <a:cs typeface="Roboto"/>
                <a:sym typeface="Roboto"/>
              </a:rPr>
              <a:t>Echomap</a:t>
            </a:r>
            <a:br>
              <a:rPr lang="hu"/>
            </a:br>
            <a:endParaRPr sz="2700"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latin typeface="Roboto"/>
                <a:ea typeface="Roboto"/>
                <a:cs typeface="Roboto"/>
                <a:sym typeface="Roboto"/>
              </a:rPr>
              <a:t>Árpás Kevin, Cservenák Dániel, Refka Bence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760450" y="1902125"/>
            <a:ext cx="6600300" cy="145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hu" sz="9600"/>
              <a:t>Weboldal</a:t>
            </a:r>
            <a:endParaRPr sz="9600"/>
          </a:p>
        </p:txBody>
      </p:sp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Főoldal</a:t>
            </a:r>
            <a:endParaRPr/>
          </a:p>
        </p:txBody>
      </p:sp>
      <p:pic>
        <p:nvPicPr>
          <p:cNvPr id="146" name="Google Shape;14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550" y="1503275"/>
            <a:ext cx="5062976" cy="316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10333" y="918350"/>
            <a:ext cx="2699266" cy="27883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146475" y="64247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Regisztráció</a:t>
            </a:r>
            <a:endParaRPr/>
          </a:p>
        </p:txBody>
      </p:sp>
      <p:pic>
        <p:nvPicPr>
          <p:cNvPr id="153" name="Google Shape;15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8800" y="341150"/>
            <a:ext cx="2601350" cy="450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4850" y="755825"/>
            <a:ext cx="2781450" cy="163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9981" y="2333300"/>
            <a:ext cx="2734126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23475" y="3060375"/>
            <a:ext cx="2924175" cy="72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Bejelentkezés</a:t>
            </a:r>
            <a:endParaRPr/>
          </a:p>
        </p:txBody>
      </p:sp>
      <p:pic>
        <p:nvPicPr>
          <p:cNvPr id="162" name="Google Shape;16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625" y="2217850"/>
            <a:ext cx="2469026" cy="264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62675" y="1582475"/>
            <a:ext cx="4629025" cy="348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62300" y="212600"/>
            <a:ext cx="2562325" cy="109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Kijelentkezés</a:t>
            </a:r>
            <a:endParaRPr/>
          </a:p>
        </p:txBody>
      </p:sp>
      <p:pic>
        <p:nvPicPr>
          <p:cNvPr id="170" name="Google Shape;17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3025" y="1584625"/>
            <a:ext cx="2486775" cy="243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35250" y="1307850"/>
            <a:ext cx="4086225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21800" y="3128825"/>
            <a:ext cx="3616350" cy="117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Saját profilunk megtekintése és módosítása</a:t>
            </a:r>
            <a:endParaRPr/>
          </a:p>
        </p:txBody>
      </p:sp>
      <p:pic>
        <p:nvPicPr>
          <p:cNvPr id="178" name="Google Shape;1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64900"/>
            <a:ext cx="5045199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9750" y="1779450"/>
            <a:ext cx="3588899" cy="256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0"/>
          <p:cNvSpPr txBox="1"/>
          <p:nvPr>
            <p:ph type="title"/>
          </p:nvPr>
        </p:nvSpPr>
        <p:spPr>
          <a:xfrm>
            <a:off x="1253100" y="509250"/>
            <a:ext cx="72936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hu"/>
              <a:t>Lapozás</a:t>
            </a:r>
            <a:endParaRPr/>
          </a:p>
        </p:txBody>
      </p:sp>
      <p:pic>
        <p:nvPicPr>
          <p:cNvPr id="185" name="Google Shape;18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400" y="1476650"/>
            <a:ext cx="4827466" cy="341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7716" y="1087150"/>
            <a:ext cx="2166308" cy="3415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Más felhasználók profilja és követése</a:t>
            </a:r>
            <a:endParaRPr/>
          </a:p>
        </p:txBody>
      </p:sp>
      <p:pic>
        <p:nvPicPr>
          <p:cNvPr id="192" name="Google Shape;19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60250"/>
            <a:ext cx="5220342" cy="353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8242" y="1307850"/>
            <a:ext cx="2046682" cy="353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Ötlet kedvelése</a:t>
            </a:r>
            <a:endParaRPr/>
          </a:p>
        </p:txBody>
      </p:sp>
      <p:pic>
        <p:nvPicPr>
          <p:cNvPr id="199" name="Google Shape;19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0748" y="888884"/>
            <a:ext cx="3657901" cy="2866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6825" y="1636049"/>
            <a:ext cx="4050075" cy="245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3"/>
          <p:cNvSpPr txBox="1"/>
          <p:nvPr>
            <p:ph type="title"/>
          </p:nvPr>
        </p:nvSpPr>
        <p:spPr>
          <a:xfrm>
            <a:off x="1253100" y="509250"/>
            <a:ext cx="72936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hu"/>
              <a:t>Feed oldal a követett felhasználókra szűrve</a:t>
            </a:r>
            <a:endParaRPr/>
          </a:p>
        </p:txBody>
      </p:sp>
      <p:pic>
        <p:nvPicPr>
          <p:cNvPr id="206" name="Google Shape;20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7100" y="1327025"/>
            <a:ext cx="4963313" cy="3415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050" y="2137250"/>
            <a:ext cx="2777825" cy="179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Ötlet posztolása, törlése, módosítása</a:t>
            </a:r>
            <a:endParaRPr/>
          </a:p>
        </p:txBody>
      </p:sp>
      <p:pic>
        <p:nvPicPr>
          <p:cNvPr id="213" name="Google Shape;21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6623" y="1353775"/>
            <a:ext cx="3483975" cy="96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6357" y="2944845"/>
            <a:ext cx="4957087" cy="144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97500" y="1307850"/>
            <a:ext cx="2171830" cy="3530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5"/>
          <p:cNvSpPr txBox="1"/>
          <p:nvPr>
            <p:ph type="title"/>
          </p:nvPr>
        </p:nvSpPr>
        <p:spPr>
          <a:xfrm>
            <a:off x="1253100" y="509250"/>
            <a:ext cx="72936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hu"/>
              <a:t>Ötlet és hozzátartozó kommentek megtekintése</a:t>
            </a:r>
            <a:endParaRPr/>
          </a:p>
        </p:txBody>
      </p:sp>
      <p:pic>
        <p:nvPicPr>
          <p:cNvPr id="221" name="Google Shape;22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75750"/>
            <a:ext cx="5091441" cy="341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4916" y="1344775"/>
            <a:ext cx="1972924" cy="341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Keresősáv</a:t>
            </a:r>
            <a:endParaRPr/>
          </a:p>
        </p:txBody>
      </p:sp>
      <p:pic>
        <p:nvPicPr>
          <p:cNvPr id="228" name="Google Shape;22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6875" y="465300"/>
            <a:ext cx="236220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7100" y="1371425"/>
            <a:ext cx="6394705" cy="3530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Posztolók ranglistája</a:t>
            </a:r>
            <a:endParaRPr/>
          </a:p>
        </p:txBody>
      </p:sp>
      <p:pic>
        <p:nvPicPr>
          <p:cNvPr id="235" name="Google Shape;23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925" y="1575725"/>
            <a:ext cx="3152775" cy="317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6825" y="421800"/>
            <a:ext cx="2061150" cy="4325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A felhasználó statisztikái és haladási sávja</a:t>
            </a:r>
            <a:endParaRPr/>
          </a:p>
        </p:txBody>
      </p:sp>
      <p:pic>
        <p:nvPicPr>
          <p:cNvPr id="242" name="Google Shape;24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60250"/>
            <a:ext cx="4831999" cy="157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45925" y="1095750"/>
            <a:ext cx="1600200" cy="1942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23825" y="3539750"/>
            <a:ext cx="2124075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62063" y="3386275"/>
            <a:ext cx="3209925" cy="119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Admin felhasználó</a:t>
            </a:r>
            <a:endParaRPr/>
          </a:p>
        </p:txBody>
      </p:sp>
      <p:pic>
        <p:nvPicPr>
          <p:cNvPr id="251" name="Google Shape;25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0468" y="1679763"/>
            <a:ext cx="2256325" cy="206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3650" y="261775"/>
            <a:ext cx="1870800" cy="470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Admin panel</a:t>
            </a:r>
            <a:endParaRPr/>
          </a:p>
        </p:txBody>
      </p:sp>
      <p:pic>
        <p:nvPicPr>
          <p:cNvPr id="258" name="Google Shape;25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125" y="1005675"/>
            <a:ext cx="5962900" cy="395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06425" y="179500"/>
            <a:ext cx="2328225" cy="4871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1"/>
          <p:cNvSpPr txBox="1"/>
          <p:nvPr>
            <p:ph type="title"/>
          </p:nvPr>
        </p:nvSpPr>
        <p:spPr>
          <a:xfrm>
            <a:off x="516050" y="1852275"/>
            <a:ext cx="8581500" cy="16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8000">
                <a:latin typeface="Roboto"/>
                <a:ea typeface="Roboto"/>
                <a:cs typeface="Roboto"/>
                <a:sym typeface="Roboto"/>
              </a:rPr>
              <a:t>Mobilalkalmazás</a:t>
            </a:r>
            <a:endParaRPr sz="8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latin typeface="Roboto"/>
                <a:ea typeface="Roboto"/>
                <a:cs typeface="Roboto"/>
                <a:sym typeface="Roboto"/>
              </a:rPr>
              <a:t>Főoldal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0" name="Google Shape;27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825" y="1202975"/>
            <a:ext cx="1736600" cy="3701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3275" y="944652"/>
            <a:ext cx="1736600" cy="3701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12675" y="1218877"/>
            <a:ext cx="1736600" cy="3669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47875" y="915700"/>
            <a:ext cx="1736600" cy="37593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latin typeface="Roboto"/>
                <a:ea typeface="Roboto"/>
                <a:cs typeface="Roboto"/>
                <a:sym typeface="Roboto"/>
              </a:rPr>
              <a:t>Profil oldalmenü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9" name="Google Shape;27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9450" y="909925"/>
            <a:ext cx="1879625" cy="40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6770" y="206600"/>
            <a:ext cx="2054025" cy="450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latin typeface="Roboto"/>
                <a:ea typeface="Roboto"/>
                <a:cs typeface="Roboto"/>
                <a:sym typeface="Roboto"/>
              </a:rPr>
              <a:t>Regisztrálás/Bejelentkezés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86" name="Google Shape;28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9400" y="877450"/>
            <a:ext cx="1922300" cy="414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4225" y="894525"/>
            <a:ext cx="1922300" cy="4112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latin typeface="Roboto"/>
                <a:ea typeface="Roboto"/>
                <a:cs typeface="Roboto"/>
                <a:sym typeface="Roboto"/>
              </a:rPr>
              <a:t>Térkép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3" name="Google Shape;29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800" y="894525"/>
            <a:ext cx="1734250" cy="3793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7750" y="1307850"/>
            <a:ext cx="1734250" cy="3751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68076" y="894525"/>
            <a:ext cx="1734250" cy="380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58724" y="1307850"/>
            <a:ext cx="1734250" cy="36929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latin typeface="Roboto"/>
                <a:ea typeface="Roboto"/>
                <a:cs typeface="Roboto"/>
                <a:sym typeface="Roboto"/>
              </a:rPr>
              <a:t>Térkép oldalmenü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02" name="Google Shape;30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8900" y="832850"/>
            <a:ext cx="1952800" cy="4196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0128" y="107925"/>
            <a:ext cx="2286664" cy="485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